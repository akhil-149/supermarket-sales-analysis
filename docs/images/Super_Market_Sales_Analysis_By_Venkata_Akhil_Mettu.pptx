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8"/>
  </p:notesMasterIdLst>
  <p:handoutMasterIdLst>
    <p:handoutMasterId r:id="rId29"/>
  </p:handoutMasterIdLst>
  <p:sldIdLst>
    <p:sldId id="256" r:id="rId5"/>
    <p:sldId id="295" r:id="rId6"/>
    <p:sldId id="277" r:id="rId7"/>
    <p:sldId id="296" r:id="rId8"/>
    <p:sldId id="297" r:id="rId9"/>
    <p:sldId id="298" r:id="rId10"/>
    <p:sldId id="300" r:id="rId11"/>
    <p:sldId id="299" r:id="rId12"/>
    <p:sldId id="313" r:id="rId13"/>
    <p:sldId id="301" r:id="rId14"/>
    <p:sldId id="302" r:id="rId15"/>
    <p:sldId id="303" r:id="rId16"/>
    <p:sldId id="305" r:id="rId17"/>
    <p:sldId id="304" r:id="rId18"/>
    <p:sldId id="314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D3D5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199" y="1615736"/>
            <a:ext cx="7086599" cy="1524735"/>
          </a:xfrm>
        </p:spPr>
        <p:txBody>
          <a:bodyPr anchor="b">
            <a:normAutofit/>
          </a:bodyPr>
          <a:lstStyle/>
          <a:p>
            <a:r>
              <a:rPr lang="en-US" dirty="0"/>
              <a:t>SUPERMART RETAIL PERFORMANCE ANALYSIS: SALES &amp; CUSTOMER BEHAVIOR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/>
          <a:p>
            <a:r>
              <a:rPr lang="en-US" dirty="0"/>
              <a:t>Venkata Akhil Mettu</a:t>
            </a:r>
            <a:br>
              <a:rPr lang="en-US" dirty="0"/>
            </a:br>
            <a:r>
              <a:rPr lang="en-US" dirty="0"/>
              <a:t>January 12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4B2E8CC-38B4-EDF7-8DAC-7828069B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4E12-3B06-EC4D-0332-4A7543C1E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CB49A-9A5D-B52E-1C68-446B722DA9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5231"/>
          </a:xfrm>
        </p:spPr>
        <p:txBody>
          <a:bodyPr/>
          <a:lstStyle/>
          <a:p>
            <a:pPr algn="l"/>
            <a:r>
              <a:rPr lang="en-US" cap="none" dirty="0"/>
              <a:t>Background: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4C5E2-D3C6-91DF-55BF-C1A1511B9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600B0-1524-352A-34E1-026B3D6A158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580356"/>
            <a:ext cx="10515599" cy="3697288"/>
          </a:xfrm>
        </p:spPr>
        <p:txBody>
          <a:bodyPr>
            <a:normAutofit/>
          </a:bodyPr>
          <a:lstStyle/>
          <a:p>
            <a:r>
              <a:rPr lang="en-US" dirty="0"/>
              <a:t>Leading retail chain operating across multiple branches in Myanmar </a:t>
            </a:r>
          </a:p>
          <a:p>
            <a:r>
              <a:rPr lang="en-US" dirty="0"/>
              <a:t>Dataset comprises 1,000 transactions across diverse product categories </a:t>
            </a:r>
          </a:p>
          <a:p>
            <a:r>
              <a:rPr lang="en-US" dirty="0"/>
              <a:t>Complex interplay between customer behavior and sales performance</a:t>
            </a:r>
          </a:p>
        </p:txBody>
      </p:sp>
    </p:spTree>
    <p:extLst>
      <p:ext uri="{BB962C8B-B14F-4D97-AF65-F5344CB8AC3E}">
        <p14:creationId xmlns:p14="http://schemas.microsoft.com/office/powerpoint/2010/main" val="2318183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5231"/>
          </a:xfrm>
        </p:spPr>
        <p:txBody>
          <a:bodyPr/>
          <a:lstStyle/>
          <a:p>
            <a:pPr algn="l"/>
            <a:r>
              <a:rPr lang="en-US" cap="none" dirty="0"/>
              <a:t>Business Problems: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580356"/>
            <a:ext cx="10515599" cy="36972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1. Performance Optimization:</a:t>
            </a:r>
          </a:p>
          <a:p>
            <a:r>
              <a:rPr lang="en-US" dirty="0"/>
              <a:t>How can we optimize sales across different product categories?</a:t>
            </a:r>
          </a:p>
          <a:p>
            <a:r>
              <a:rPr lang="en-US" dirty="0"/>
              <a:t>What factors drive customer purchase decisions?</a:t>
            </a:r>
          </a:p>
          <a:p>
            <a:r>
              <a:rPr lang="en-US" dirty="0"/>
              <a:t>How do branch locations impact sales performance?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Customer Understanding:</a:t>
            </a:r>
          </a:p>
          <a:p>
            <a:r>
              <a:rPr lang="en-US" dirty="0"/>
              <a:t>What distinguishes member vs non-member shopping patterns?</a:t>
            </a:r>
          </a:p>
          <a:p>
            <a:r>
              <a:rPr lang="en-US" dirty="0"/>
              <a:t>How do payment preferences affect purchase behavior?</a:t>
            </a:r>
          </a:p>
          <a:p>
            <a:r>
              <a:rPr lang="en-US" dirty="0"/>
              <a:t>What drives customer satisfaction ratings?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73FBB-0C78-29C3-4BBF-4E05F0D3F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D3E7-2FBD-4709-78CC-9647F1679B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5231"/>
          </a:xfrm>
        </p:spPr>
        <p:txBody>
          <a:bodyPr/>
          <a:lstStyle/>
          <a:p>
            <a:pPr algn="l"/>
            <a:r>
              <a:rPr lang="en-US" cap="none" dirty="0"/>
              <a:t>Project Objectives: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AC206-84CB-B61A-2460-81F57BB4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303BF-6D13-F3E9-EA2E-E2785791F89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580356"/>
            <a:ext cx="10515599" cy="3697288"/>
          </a:xfrm>
        </p:spPr>
        <p:txBody>
          <a:bodyPr>
            <a:normAutofit/>
          </a:bodyPr>
          <a:lstStyle/>
          <a:p>
            <a:r>
              <a:rPr lang="en-US" dirty="0"/>
              <a:t>Develop comprehensive sales performance dashboard </a:t>
            </a:r>
          </a:p>
          <a:p>
            <a:r>
              <a:rPr lang="en-US" dirty="0"/>
              <a:t>Create customer behavior analysis framework </a:t>
            </a:r>
          </a:p>
          <a:p>
            <a:r>
              <a:rPr lang="en-US" dirty="0"/>
              <a:t>Generate actionable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53123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C7C36-9809-4D94-813F-6E1D94164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526654"/>
            <a:ext cx="8368239" cy="823912"/>
          </a:xfrm>
        </p:spPr>
        <p:txBody>
          <a:bodyPr/>
          <a:lstStyle/>
          <a:p>
            <a:r>
              <a:rPr lang="en-US" cap="none" dirty="0"/>
              <a:t>Methodology &amp; Data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61356-C746-2DD0-A529-17728B62A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1399" y="1575048"/>
            <a:ext cx="2864181" cy="457877"/>
          </a:xfrm>
        </p:spPr>
        <p:txBody>
          <a:bodyPr/>
          <a:lstStyle/>
          <a:p>
            <a:r>
              <a:rPr lang="en-US" cap="none" dirty="0"/>
              <a:t>Dataset Overview: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0AB5F-FCCE-A4DB-F842-726B5DDA7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1398" y="2257407"/>
            <a:ext cx="2864181" cy="199786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Records: 1,000 transactions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Period: January-March 2019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Variables: 17 key metrics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C89E4-57BE-9788-9F6A-6246ED545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19906" y="1626562"/>
            <a:ext cx="3418755" cy="406363"/>
          </a:xfrm>
        </p:spPr>
        <p:txBody>
          <a:bodyPr/>
          <a:lstStyle/>
          <a:p>
            <a:r>
              <a:rPr lang="en-US" cap="none" dirty="0"/>
              <a:t>Key Variables Analyzed: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3F668-D349-B179-93C0-EDC623538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87654" y="2257407"/>
            <a:ext cx="2963241" cy="3672118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en-US" dirty="0"/>
              <a:t>Transaction Metrics: </a:t>
            </a:r>
            <a:br>
              <a:rPr lang="en-US" dirty="0"/>
            </a:br>
            <a:r>
              <a:rPr lang="en-US" dirty="0"/>
              <a:t>• Invoice ID </a:t>
            </a:r>
            <a:br>
              <a:rPr lang="en-US" dirty="0"/>
            </a:br>
            <a:r>
              <a:rPr lang="en-US" dirty="0"/>
              <a:t>• Product line </a:t>
            </a:r>
            <a:br>
              <a:rPr lang="en-US" dirty="0"/>
            </a:br>
            <a:r>
              <a:rPr lang="en-US" dirty="0"/>
              <a:t>• Unit price </a:t>
            </a:r>
            <a:br>
              <a:rPr lang="en-US" dirty="0"/>
            </a:br>
            <a:r>
              <a:rPr lang="en-US" dirty="0"/>
              <a:t>• Quantity </a:t>
            </a:r>
            <a:br>
              <a:rPr lang="en-US" dirty="0"/>
            </a:br>
            <a:r>
              <a:rPr lang="en-US" dirty="0"/>
              <a:t>• Total </a:t>
            </a:r>
          </a:p>
          <a:p>
            <a:pPr marL="342900" indent="-342900">
              <a:buAutoNum type="arabicPeriod"/>
            </a:pPr>
            <a:r>
              <a:rPr lang="en-US" dirty="0"/>
              <a:t>Customer Data: </a:t>
            </a:r>
            <a:br>
              <a:rPr lang="en-US" dirty="0"/>
            </a:br>
            <a:r>
              <a:rPr lang="en-US" dirty="0"/>
              <a:t>• Customer type </a:t>
            </a:r>
            <a:br>
              <a:rPr lang="en-US" dirty="0"/>
            </a:br>
            <a:r>
              <a:rPr lang="en-US" dirty="0"/>
              <a:t>• Gender </a:t>
            </a:r>
            <a:br>
              <a:rPr lang="en-US" dirty="0"/>
            </a:br>
            <a:r>
              <a:rPr lang="en-US" dirty="0"/>
              <a:t>• Payment method </a:t>
            </a:r>
            <a:br>
              <a:rPr lang="en-US" dirty="0"/>
            </a:br>
            <a:r>
              <a:rPr lang="en-US" dirty="0"/>
              <a:t>• Rating </a:t>
            </a:r>
          </a:p>
          <a:p>
            <a:pPr marL="342900" indent="-342900">
              <a:buAutoNum type="arabicPeriod"/>
            </a:pPr>
            <a:r>
              <a:rPr lang="en-US" dirty="0"/>
              <a:t>Operational Metrics: </a:t>
            </a:r>
            <a:br>
              <a:rPr lang="en-US" dirty="0"/>
            </a:br>
            <a:r>
              <a:rPr lang="en-US" dirty="0"/>
              <a:t>• Branch </a:t>
            </a:r>
            <a:br>
              <a:rPr lang="en-US" dirty="0"/>
            </a:br>
            <a:r>
              <a:rPr lang="en-US" dirty="0"/>
              <a:t>• City </a:t>
            </a:r>
            <a:br>
              <a:rPr lang="en-US" dirty="0"/>
            </a:br>
            <a:r>
              <a:rPr lang="en-US" dirty="0"/>
              <a:t>• Gross margin </a:t>
            </a:r>
            <a:br>
              <a:rPr lang="en-US" dirty="0"/>
            </a:br>
            <a:r>
              <a:rPr lang="en-US" dirty="0"/>
              <a:t>• COGS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7386D3-C383-8AB4-1293-6A6C2554EC6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19" y="1575048"/>
            <a:ext cx="2864181" cy="457877"/>
          </a:xfrm>
        </p:spPr>
        <p:txBody>
          <a:bodyPr/>
          <a:lstStyle/>
          <a:p>
            <a:r>
              <a:rPr lang="en-US" cap="none" dirty="0"/>
              <a:t>Analysis Framework: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0D0DFB-D579-D859-715C-C30CEDD5BA3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19" y="2257407"/>
            <a:ext cx="2864181" cy="3470762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dirty="0"/>
              <a:t>Quantitative Analysis: </a:t>
            </a:r>
            <a:br>
              <a:rPr lang="en-US" dirty="0"/>
            </a:br>
            <a:r>
              <a:rPr lang="en-US" dirty="0"/>
              <a:t>• Sales trend analysis </a:t>
            </a:r>
            <a:br>
              <a:rPr lang="en-US" dirty="0"/>
            </a:br>
            <a:r>
              <a:rPr lang="en-US" dirty="0"/>
              <a:t>• Profitability metrics </a:t>
            </a:r>
            <a:br>
              <a:rPr lang="en-US" dirty="0"/>
            </a:br>
            <a:r>
              <a:rPr lang="en-US" dirty="0"/>
              <a:t>• Customer segmentation</a:t>
            </a:r>
          </a:p>
          <a:p>
            <a:pPr marL="342900" indent="-342900">
              <a:buAutoNum type="arabicPeriod"/>
            </a:pPr>
            <a:r>
              <a:rPr lang="en-US" dirty="0"/>
              <a:t>Tools &amp; Technologies: </a:t>
            </a:r>
            <a:br>
              <a:rPr lang="en-US" dirty="0"/>
            </a:br>
            <a:r>
              <a:rPr lang="en-US" dirty="0"/>
              <a:t>• Microsoft Power BI </a:t>
            </a:r>
            <a:br>
              <a:rPr lang="en-US" dirty="0"/>
            </a:br>
            <a:r>
              <a:rPr lang="en-US" dirty="0"/>
              <a:t>• Advanced DAX </a:t>
            </a:r>
            <a:br>
              <a:rPr lang="en-US" dirty="0"/>
            </a:br>
            <a:r>
              <a:rPr lang="en-US" dirty="0"/>
              <a:t>• Data Modeling </a:t>
            </a:r>
          </a:p>
          <a:p>
            <a:pPr marL="342900" indent="-342900">
              <a:buAutoNum type="arabicPeriod"/>
            </a:pPr>
            <a:r>
              <a:rPr lang="en-US" dirty="0"/>
              <a:t>Visualization Strategy: </a:t>
            </a:r>
            <a:br>
              <a:rPr lang="en-US" dirty="0"/>
            </a:br>
            <a:r>
              <a:rPr lang="en-US" dirty="0"/>
              <a:t>• Interactive dashboards </a:t>
            </a:r>
            <a:br>
              <a:rPr lang="en-US" dirty="0"/>
            </a:br>
            <a:r>
              <a:rPr lang="en-US" dirty="0"/>
              <a:t>• Cross-filtering capabilities • Dynamic reporting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438F612-8EB3-5152-43B8-42105DD6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2579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797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A4E88-7877-FF35-91F3-69B20A38D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22DF-9CBC-133F-BDD1-184D184D193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2230"/>
          </a:xfrm>
        </p:spPr>
        <p:txBody>
          <a:bodyPr/>
          <a:lstStyle/>
          <a:p>
            <a:pPr algn="l"/>
            <a:r>
              <a:rPr lang="en-US" cap="none" dirty="0"/>
              <a:t>Dashboard 1 - Sales Performance &amp; Operations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BDF1C-A377-7ABC-5B69-AD23C9FA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Content Placeholder 5" descr="A screenshot of a data report&#10;&#10;Description automatically generated">
            <a:extLst>
              <a:ext uri="{FF2B5EF4-FFF2-40B4-BE49-F238E27FC236}">
                <a16:creationId xmlns:a16="http://schemas.microsoft.com/office/drawing/2014/main" id="{E8E0D349-8F05-AEA2-23D9-CC342AD42513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913436" y="1169833"/>
            <a:ext cx="10128190" cy="5293879"/>
          </a:xfrm>
        </p:spPr>
      </p:pic>
    </p:spTree>
    <p:extLst>
      <p:ext uri="{BB962C8B-B14F-4D97-AF65-F5344CB8AC3E}">
        <p14:creationId xmlns:p14="http://schemas.microsoft.com/office/powerpoint/2010/main" val="1269656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715B5-8C0A-D73D-9C1A-9A6505C08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7A409-6F6B-CAA9-DB3D-B7C1C2E238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2230"/>
          </a:xfrm>
        </p:spPr>
        <p:txBody>
          <a:bodyPr/>
          <a:lstStyle/>
          <a:p>
            <a:pPr algn="l"/>
            <a:r>
              <a:rPr lang="en-US" cap="none" dirty="0"/>
              <a:t>Sales Performance Command Center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E96AD-87F4-0C7B-E43F-A88C666EB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7FDF8E-D8B9-D6FE-A2ED-6FB57F6114A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327357"/>
            <a:ext cx="10515599" cy="502899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1. Key Performance Metrics:</a:t>
            </a:r>
          </a:p>
          <a:p>
            <a:pPr marL="0" indent="0">
              <a:buNone/>
            </a:pPr>
            <a:r>
              <a:rPr lang="en-US" dirty="0"/>
              <a:t>   • Total Revenue: $3,22,966.749</a:t>
            </a:r>
          </a:p>
          <a:p>
            <a:pPr marL="0" indent="0">
              <a:buNone/>
            </a:pPr>
            <a:r>
              <a:rPr lang="en-US" dirty="0"/>
              <a:t>     - Representing overall sales performance across branches</a:t>
            </a:r>
          </a:p>
          <a:p>
            <a:pPr marL="0" indent="0">
              <a:buNone/>
            </a:pPr>
            <a:r>
              <a:rPr lang="en-US" dirty="0"/>
              <a:t>     - Shows 30.94% YoY growth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• Products Sold: 5510 units</a:t>
            </a:r>
          </a:p>
          <a:p>
            <a:pPr marL="0" indent="0">
              <a:buNone/>
            </a:pPr>
            <a:r>
              <a:rPr lang="en-US" dirty="0"/>
              <a:t>     - Distributed across 6 product categories</a:t>
            </a:r>
          </a:p>
          <a:p>
            <a:pPr marL="0" indent="0">
              <a:buNone/>
            </a:pPr>
            <a:r>
              <a:rPr lang="en-US" dirty="0"/>
              <a:t>     - Indicates healthy inventory turnover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• Average Transaction: $322.97</a:t>
            </a:r>
          </a:p>
          <a:p>
            <a:pPr marL="0" indent="0">
              <a:buNone/>
            </a:pPr>
            <a:r>
              <a:rPr lang="en-US" dirty="0"/>
              <a:t>     - Benchmark for purchase value analysis</a:t>
            </a:r>
          </a:p>
          <a:p>
            <a:pPr marL="0" indent="0">
              <a:buNone/>
            </a:pPr>
            <a:r>
              <a:rPr lang="en-US" dirty="0"/>
              <a:t>     - Helps in basket size optimization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• Gross Margin: 4.76%</a:t>
            </a:r>
          </a:p>
          <a:p>
            <a:pPr marL="0" indent="0">
              <a:buNone/>
            </a:pPr>
            <a:r>
              <a:rPr lang="en-US" dirty="0"/>
              <a:t>     - Indicates profitability performance</a:t>
            </a:r>
          </a:p>
          <a:p>
            <a:pPr marL="0" indent="0">
              <a:buNone/>
            </a:pPr>
            <a:r>
              <a:rPr lang="en-US" dirty="0"/>
              <a:t>     - Basis for pricing strategy decisions</a:t>
            </a:r>
          </a:p>
        </p:txBody>
      </p:sp>
    </p:spTree>
    <p:extLst>
      <p:ext uri="{BB962C8B-B14F-4D97-AF65-F5344CB8AC3E}">
        <p14:creationId xmlns:p14="http://schemas.microsoft.com/office/powerpoint/2010/main" val="2284322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BD08-B288-3C55-A082-282825D6F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F51B1-79B6-1AAB-1AA6-33C361BB826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049"/>
          </a:xfrm>
        </p:spPr>
        <p:txBody>
          <a:bodyPr/>
          <a:lstStyle/>
          <a:p>
            <a:pPr algn="l"/>
            <a:r>
              <a:rPr lang="en-US" cap="none" dirty="0"/>
              <a:t>Sales Pattern Analysis: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22785-4EFF-908D-02B3-BBEF7412F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E40DF-84D4-D865-C3EB-CCE63DC2235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455175"/>
            <a:ext cx="10515599" cy="490117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1. Branch Performance:</a:t>
            </a:r>
          </a:p>
          <a:p>
            <a:pPr marL="0" indent="0">
              <a:buNone/>
            </a:pPr>
            <a:r>
              <a:rPr lang="en-US" dirty="0"/>
              <a:t>   • Branch C leads with highest gross profit</a:t>
            </a:r>
          </a:p>
          <a:p>
            <a:pPr marL="0" indent="0">
              <a:buNone/>
            </a:pPr>
            <a:r>
              <a:rPr lang="en-US" dirty="0"/>
              <a:t>   • Branch-wise product category distribution</a:t>
            </a:r>
          </a:p>
          <a:p>
            <a:pPr marL="0" indent="0">
              <a:buNone/>
            </a:pPr>
            <a:r>
              <a:rPr lang="en-US" dirty="0"/>
              <a:t>   • Payment method preferences by location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Product Category Insights:</a:t>
            </a:r>
          </a:p>
          <a:p>
            <a:pPr marL="0" indent="0">
              <a:buNone/>
            </a:pPr>
            <a:r>
              <a:rPr lang="en-US" dirty="0"/>
              <a:t>   • Electronic accessories: Highest unit sales (599)</a:t>
            </a:r>
          </a:p>
          <a:p>
            <a:pPr marL="0" indent="0">
              <a:buNone/>
            </a:pPr>
            <a:r>
              <a:rPr lang="en-US" dirty="0"/>
              <a:t>   • Fashion accessories: Best margin performance</a:t>
            </a:r>
          </a:p>
          <a:p>
            <a:pPr marL="0" indent="0">
              <a:buNone/>
            </a:pPr>
            <a:r>
              <a:rPr lang="en-US" dirty="0"/>
              <a:t>   • Food &amp; beverages: Most consistent sales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Time-based Analysis:</a:t>
            </a:r>
          </a:p>
          <a:p>
            <a:pPr marL="0" indent="0">
              <a:buNone/>
            </a:pPr>
            <a:r>
              <a:rPr lang="en-US" dirty="0"/>
              <a:t>   • Peak hours identification</a:t>
            </a:r>
          </a:p>
          <a:p>
            <a:pPr marL="0" indent="0">
              <a:buNone/>
            </a:pPr>
            <a:r>
              <a:rPr lang="en-US" dirty="0"/>
              <a:t>   • Day of week patterns</a:t>
            </a:r>
          </a:p>
          <a:p>
            <a:pPr marL="0" indent="0">
              <a:buNone/>
            </a:pPr>
            <a:r>
              <a:rPr lang="en-US" dirty="0"/>
              <a:t>   • Monthly trends</a:t>
            </a:r>
          </a:p>
        </p:txBody>
      </p:sp>
    </p:spTree>
    <p:extLst>
      <p:ext uri="{BB962C8B-B14F-4D97-AF65-F5344CB8AC3E}">
        <p14:creationId xmlns:p14="http://schemas.microsoft.com/office/powerpoint/2010/main" val="1929892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9255A-19AB-C140-F402-13882180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BFB0-1942-EA05-7FD1-4CE7AC0EE0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049"/>
          </a:xfrm>
        </p:spPr>
        <p:txBody>
          <a:bodyPr/>
          <a:lstStyle/>
          <a:p>
            <a:pPr algn="l"/>
            <a:r>
              <a:rPr lang="en-US" cap="none" dirty="0"/>
              <a:t>Sales Pattern Analysis: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F37AF-9FD2-5A5F-C60B-AB862E5A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63CD6-232C-0D64-1888-6760AAF6F9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455175"/>
            <a:ext cx="10515599" cy="490117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4. Payment Distribution:</a:t>
            </a:r>
          </a:p>
          <a:p>
            <a:pPr marL="0" indent="0">
              <a:buNone/>
            </a:pPr>
            <a:r>
              <a:rPr lang="en-US" dirty="0"/>
              <a:t>   • Credit card: 34.4%</a:t>
            </a:r>
          </a:p>
          <a:p>
            <a:pPr marL="0" indent="0">
              <a:buNone/>
            </a:pPr>
            <a:r>
              <a:rPr lang="en-US" dirty="0"/>
              <a:t>   • Cash: 34.5%</a:t>
            </a:r>
          </a:p>
          <a:p>
            <a:pPr marL="0" indent="0">
              <a:buNone/>
            </a:pPr>
            <a:r>
              <a:rPr lang="en-US" dirty="0"/>
              <a:t>   • E-wallet: 31.1%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5. Product Line Performance:</a:t>
            </a:r>
          </a:p>
          <a:p>
            <a:pPr marL="0" indent="0">
              <a:buNone/>
            </a:pPr>
            <a:r>
              <a:rPr lang="en-US" dirty="0"/>
              <a:t>   • Unit sales distribution</a:t>
            </a:r>
          </a:p>
          <a:p>
            <a:pPr marL="0" indent="0">
              <a:buNone/>
            </a:pPr>
            <a:r>
              <a:rPr lang="en-US" dirty="0"/>
              <a:t>   • Profitability analysis</a:t>
            </a:r>
          </a:p>
          <a:p>
            <a:pPr marL="0" indent="0">
              <a:buNone/>
            </a:pPr>
            <a:r>
              <a:rPr lang="en-US" dirty="0"/>
              <a:t>   • Category growth trends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6. Customer Purchase Behavior:</a:t>
            </a:r>
          </a:p>
          <a:p>
            <a:pPr marL="0" indent="0">
              <a:buNone/>
            </a:pPr>
            <a:r>
              <a:rPr lang="en-US" dirty="0"/>
              <a:t>   • Time of day preferences</a:t>
            </a:r>
          </a:p>
          <a:p>
            <a:pPr marL="0" indent="0">
              <a:buNone/>
            </a:pPr>
            <a:r>
              <a:rPr lang="en-US" dirty="0"/>
              <a:t>   • Payment method impact</a:t>
            </a:r>
          </a:p>
          <a:p>
            <a:pPr marL="0" indent="0">
              <a:buNone/>
            </a:pPr>
            <a:r>
              <a:rPr lang="en-US" dirty="0"/>
              <a:t>   • Branch-wise variations</a:t>
            </a:r>
          </a:p>
        </p:txBody>
      </p:sp>
    </p:spTree>
    <p:extLst>
      <p:ext uri="{BB962C8B-B14F-4D97-AF65-F5344CB8AC3E}">
        <p14:creationId xmlns:p14="http://schemas.microsoft.com/office/powerpoint/2010/main" val="2204071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1E9CC-A3C0-C514-8456-98E6B403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F790-586D-A07B-DA72-E9D0550F63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049"/>
          </a:xfrm>
        </p:spPr>
        <p:txBody>
          <a:bodyPr/>
          <a:lstStyle/>
          <a:p>
            <a:pPr algn="l"/>
            <a:r>
              <a:rPr lang="en-US" cap="none" dirty="0"/>
              <a:t>Development Approach: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FEEC0-DC1C-DA95-35A1-703C8FFF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F8833-846A-5825-C4F3-1DC1D5F668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455175"/>
            <a:ext cx="10515599" cy="490117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1. Data Model Structure:</a:t>
            </a:r>
          </a:p>
          <a:p>
            <a:pPr marL="0" indent="0">
              <a:buNone/>
            </a:pPr>
            <a:r>
              <a:rPr lang="en-US" dirty="0"/>
              <a:t>   • Fact table: Sales transactions</a:t>
            </a:r>
          </a:p>
          <a:p>
            <a:pPr marL="0" indent="0">
              <a:buNone/>
            </a:pPr>
            <a:r>
              <a:rPr lang="en-US" dirty="0"/>
              <a:t>   • Dimension tables: </a:t>
            </a:r>
          </a:p>
          <a:p>
            <a:pPr marL="0" indent="0">
              <a:buNone/>
            </a:pPr>
            <a:r>
              <a:rPr lang="en-US" dirty="0"/>
              <a:t>     - Product categories</a:t>
            </a:r>
          </a:p>
          <a:p>
            <a:pPr marL="0" indent="0">
              <a:buNone/>
            </a:pPr>
            <a:r>
              <a:rPr lang="en-US" dirty="0"/>
              <a:t>     - Locations</a:t>
            </a:r>
          </a:p>
          <a:p>
            <a:pPr marL="0" indent="0">
              <a:buNone/>
            </a:pPr>
            <a:r>
              <a:rPr lang="en-US" dirty="0"/>
              <a:t>     - Customer types</a:t>
            </a:r>
          </a:p>
          <a:p>
            <a:pPr marL="0" indent="0">
              <a:buNone/>
            </a:pPr>
            <a:r>
              <a:rPr lang="en-US" dirty="0"/>
              <a:t>   • Relationship mapping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Key DAX Measures:</a:t>
            </a:r>
          </a:p>
          <a:p>
            <a:pPr marL="0" indent="0">
              <a:buNone/>
            </a:pPr>
            <a:r>
              <a:rPr lang="en-US" dirty="0"/>
              <a:t>   • Revenue calculations</a:t>
            </a:r>
          </a:p>
          <a:p>
            <a:pPr marL="0" indent="0">
              <a:buNone/>
            </a:pPr>
            <a:r>
              <a:rPr lang="en-US" dirty="0"/>
              <a:t>   • Profitability metrics</a:t>
            </a:r>
          </a:p>
          <a:p>
            <a:pPr marL="0" indent="0">
              <a:buNone/>
            </a:pPr>
            <a:r>
              <a:rPr lang="en-US" dirty="0"/>
              <a:t>   • Time intelligence functions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Visualization Strategy:</a:t>
            </a:r>
          </a:p>
          <a:p>
            <a:pPr marL="0" indent="0">
              <a:buNone/>
            </a:pPr>
            <a:r>
              <a:rPr lang="en-US" dirty="0"/>
              <a:t>   • Interactive filters implementation</a:t>
            </a:r>
          </a:p>
          <a:p>
            <a:pPr marL="0" indent="0">
              <a:buNone/>
            </a:pPr>
            <a:r>
              <a:rPr lang="en-US" dirty="0"/>
              <a:t>   • Cross-filtering setup</a:t>
            </a:r>
          </a:p>
          <a:p>
            <a:pPr marL="0" indent="0">
              <a:buNone/>
            </a:pPr>
            <a:r>
              <a:rPr lang="en-US" dirty="0"/>
              <a:t>   • Dynamic tooltips</a:t>
            </a:r>
          </a:p>
        </p:txBody>
      </p:sp>
    </p:spTree>
    <p:extLst>
      <p:ext uri="{BB962C8B-B14F-4D97-AF65-F5344CB8AC3E}">
        <p14:creationId xmlns:p14="http://schemas.microsoft.com/office/powerpoint/2010/main" val="3767567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6CD35-3FAE-2111-8BB1-D72D81E77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A3C7-C5CA-C090-B050-A86C823A1E9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2230"/>
          </a:xfrm>
        </p:spPr>
        <p:txBody>
          <a:bodyPr/>
          <a:lstStyle/>
          <a:p>
            <a:pPr algn="l"/>
            <a:r>
              <a:rPr lang="en-US" cap="none" dirty="0"/>
              <a:t>Dashboard 2 - Customer Insights &amp; Product Analytics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0B752-69B0-E9DD-1A28-0CD137CF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Content Placeholder 5" descr="A screenshot of a data analysis report&#10;&#10;Description automatically generated">
            <a:extLst>
              <a:ext uri="{FF2B5EF4-FFF2-40B4-BE49-F238E27FC236}">
                <a16:creationId xmlns:a16="http://schemas.microsoft.com/office/drawing/2014/main" id="{049BEFAA-EE90-1362-2CA2-600CC4900C89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909955" y="1179665"/>
            <a:ext cx="10171000" cy="5230103"/>
          </a:xfrm>
        </p:spPr>
      </p:pic>
    </p:spTree>
    <p:extLst>
      <p:ext uri="{BB962C8B-B14F-4D97-AF65-F5344CB8AC3E}">
        <p14:creationId xmlns:p14="http://schemas.microsoft.com/office/powerpoint/2010/main" val="1140117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73583-546F-6FB5-5125-9EA49917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0FBD-A4C4-7140-B7B3-15B92EE7AA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049"/>
          </a:xfrm>
        </p:spPr>
        <p:txBody>
          <a:bodyPr/>
          <a:lstStyle/>
          <a:p>
            <a:pPr algn="l"/>
            <a:r>
              <a:rPr lang="en-US" cap="none" dirty="0"/>
              <a:t>Customer Behavior &amp; Product Performance Hub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1A42B-CD65-9C15-132F-B77DCAD7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1E02D-CC8E-CACF-58A7-F46DC4820F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455175"/>
            <a:ext cx="10515599" cy="490117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1. Key Performance Indicators:</a:t>
            </a:r>
          </a:p>
          <a:p>
            <a:pPr marL="0" indent="0">
              <a:buNone/>
            </a:pPr>
            <a:r>
              <a:rPr lang="en-US" dirty="0"/>
              <a:t>   • Average Customer Rating: 6.97</a:t>
            </a:r>
          </a:p>
          <a:p>
            <a:pPr marL="0" indent="0">
              <a:buNone/>
            </a:pPr>
            <a:r>
              <a:rPr lang="en-US" dirty="0"/>
              <a:t>     - Indicator of customer satisfaction</a:t>
            </a:r>
          </a:p>
          <a:p>
            <a:pPr marL="0" indent="0">
              <a:buNone/>
            </a:pPr>
            <a:r>
              <a:rPr lang="en-US" dirty="0"/>
              <a:t>     - Helps track service quality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• Member Ratio: 50.10%</a:t>
            </a:r>
          </a:p>
          <a:p>
            <a:pPr marL="0" indent="0">
              <a:buNone/>
            </a:pPr>
            <a:r>
              <a:rPr lang="en-US" dirty="0"/>
              <a:t>     - Balance between member/non-member customers</a:t>
            </a:r>
          </a:p>
          <a:p>
            <a:pPr marL="0" indent="0">
              <a:buNone/>
            </a:pPr>
            <a:r>
              <a:rPr lang="en-US" dirty="0"/>
              <a:t>     - Loyalty program effectiveness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• Customer Lifetime Value: 161.48K</a:t>
            </a:r>
          </a:p>
          <a:p>
            <a:pPr marL="0" indent="0">
              <a:buNone/>
            </a:pPr>
            <a:r>
              <a:rPr lang="en-US" dirty="0"/>
              <a:t>     - Customer value measurement</a:t>
            </a:r>
          </a:p>
          <a:p>
            <a:pPr marL="0" indent="0">
              <a:buNone/>
            </a:pPr>
            <a:r>
              <a:rPr lang="en-US" dirty="0"/>
              <a:t>     - Long-term revenue potential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• Product Performance Index: 2.51</a:t>
            </a:r>
          </a:p>
          <a:p>
            <a:pPr marL="0" indent="0">
              <a:buNone/>
            </a:pPr>
            <a:r>
              <a:rPr lang="en-US" dirty="0"/>
              <a:t>     - Composite score of product success</a:t>
            </a:r>
          </a:p>
          <a:p>
            <a:pPr marL="0" indent="0">
              <a:buNone/>
            </a:pPr>
            <a:r>
              <a:rPr lang="en-US" dirty="0"/>
              <a:t>     - Combines ratings, sales, and margin</a:t>
            </a:r>
          </a:p>
        </p:txBody>
      </p:sp>
    </p:spTree>
    <p:extLst>
      <p:ext uri="{BB962C8B-B14F-4D97-AF65-F5344CB8AC3E}">
        <p14:creationId xmlns:p14="http://schemas.microsoft.com/office/powerpoint/2010/main" val="395541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CF9C8-8F52-5976-F456-5708D33B1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BA22-8687-1167-ED7D-DD64B55C1CB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pPr algn="l"/>
            <a:r>
              <a:rPr lang="en-US" cap="none" dirty="0"/>
              <a:t>Customer Behavior Patterns: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FB82A-3A6D-D597-3A5F-9F06405B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EB41C-F262-F183-C2DD-CC789D4E15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455175"/>
            <a:ext cx="10515599" cy="49011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Purchase Analysis:</a:t>
            </a:r>
          </a:p>
          <a:p>
            <a:pPr marL="0" indent="0">
              <a:buNone/>
            </a:pPr>
            <a:r>
              <a:rPr lang="en-US" dirty="0"/>
              <a:t>   • Member Customers:</a:t>
            </a:r>
          </a:p>
          <a:p>
            <a:pPr marL="0" indent="0">
              <a:buNone/>
            </a:pPr>
            <a:r>
              <a:rPr lang="en-US" dirty="0"/>
              <a:t>     - Higher average purchase (337.73)</a:t>
            </a:r>
          </a:p>
          <a:p>
            <a:pPr marL="0" indent="0">
              <a:buNone/>
            </a:pPr>
            <a:r>
              <a:rPr lang="en-US" dirty="0"/>
              <a:t>     - Better satisfaction ratings</a:t>
            </a:r>
          </a:p>
          <a:p>
            <a:pPr marL="0" indent="0">
              <a:buNone/>
            </a:pPr>
            <a:r>
              <a:rPr lang="en-US" dirty="0"/>
              <a:t>     - More frequent visits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• Non-Member Customers:</a:t>
            </a:r>
          </a:p>
          <a:p>
            <a:pPr marL="0" indent="0">
              <a:buNone/>
            </a:pPr>
            <a:r>
              <a:rPr lang="en-US" dirty="0"/>
              <a:t>     - Lower transaction value (318.12)</a:t>
            </a:r>
          </a:p>
          <a:p>
            <a:pPr marL="0" indent="0">
              <a:buNone/>
            </a:pPr>
            <a:r>
              <a:rPr lang="en-US" dirty="0"/>
              <a:t>     - Varied product preferences</a:t>
            </a:r>
          </a:p>
          <a:p>
            <a:pPr marL="0" indent="0">
              <a:buNone/>
            </a:pPr>
            <a:r>
              <a:rPr lang="en-US" dirty="0"/>
              <a:t>     - Irregular purchase patterns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935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5DB8B-912F-19AD-1953-E742B9131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2253-07FA-CC54-FB0B-AF680C25F7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pPr algn="l"/>
            <a:r>
              <a:rPr lang="en-US" cap="none" dirty="0"/>
              <a:t>Customer Behavior Patterns: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092F3-40E9-9A99-E9F6-5F141CF4A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14486-F3EB-A04A-6856-96531A6B57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455175"/>
            <a:ext cx="10515599" cy="49011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2. Product Line Insights:</a:t>
            </a:r>
          </a:p>
          <a:p>
            <a:pPr marL="0" indent="0">
              <a:buNone/>
            </a:pPr>
            <a:r>
              <a:rPr lang="en-US" dirty="0"/>
              <a:t>   • Category Performance:</a:t>
            </a:r>
          </a:p>
          <a:p>
            <a:pPr marL="0" indent="0">
              <a:buNone/>
            </a:pPr>
            <a:r>
              <a:rPr lang="en-US" dirty="0"/>
              <a:t>     - Food &amp; Beverages: Highest rating</a:t>
            </a:r>
          </a:p>
          <a:p>
            <a:pPr marL="0" indent="0">
              <a:buNone/>
            </a:pPr>
            <a:r>
              <a:rPr lang="en-US" dirty="0"/>
              <a:t>     - Fashion: Best margin</a:t>
            </a:r>
          </a:p>
          <a:p>
            <a:pPr marL="0" indent="0">
              <a:buNone/>
            </a:pPr>
            <a:r>
              <a:rPr lang="en-US" dirty="0"/>
              <a:t>     - Electronics: Volume leader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Location Intelligence:</a:t>
            </a:r>
          </a:p>
          <a:p>
            <a:pPr marL="0" indent="0">
              <a:buNone/>
            </a:pPr>
            <a:r>
              <a:rPr lang="en-US" dirty="0"/>
              <a:t>   • City-wise Performance</a:t>
            </a:r>
          </a:p>
          <a:p>
            <a:pPr marL="0" indent="0">
              <a:buNone/>
            </a:pPr>
            <a:r>
              <a:rPr lang="en-US" dirty="0"/>
              <a:t>   • Facility Impact Assessment</a:t>
            </a:r>
          </a:p>
          <a:p>
            <a:pPr marL="0" indent="0">
              <a:buNone/>
            </a:pPr>
            <a:r>
              <a:rPr lang="en-US" dirty="0"/>
              <a:t>   • Transit Accessibility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3949508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45CCC-1043-5CD5-917E-F1F9CF4A9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61B1-BD1B-EF35-230F-B13DCE5B7D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pPr algn="l"/>
            <a:r>
              <a:rPr lang="en-US" cap="none" dirty="0"/>
              <a:t>Customer Behavior Patterns: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9FD4F-AC89-D355-CBA9-F5F444255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2119E-BE97-5FBF-AA0F-37A1D646D8E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455175"/>
            <a:ext cx="10515599" cy="49011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4. Customer Segment Analysis:</a:t>
            </a:r>
          </a:p>
          <a:p>
            <a:pPr marL="0" indent="0">
              <a:buNone/>
            </a:pPr>
            <a:r>
              <a:rPr lang="en-US" dirty="0"/>
              <a:t>   • Matrix showing:</a:t>
            </a:r>
          </a:p>
          <a:p>
            <a:pPr marL="0" indent="0">
              <a:buNone/>
            </a:pPr>
            <a:r>
              <a:rPr lang="en-US" dirty="0"/>
              <a:t>     - Gender distribution</a:t>
            </a:r>
          </a:p>
          <a:p>
            <a:pPr marL="0" indent="0">
              <a:buNone/>
            </a:pPr>
            <a:r>
              <a:rPr lang="en-US" dirty="0"/>
              <a:t>     - Member vs Non-member</a:t>
            </a:r>
          </a:p>
          <a:p>
            <a:pPr marL="0" indent="0">
              <a:buNone/>
            </a:pPr>
            <a:r>
              <a:rPr lang="en-US" dirty="0"/>
              <a:t>     - Average purchase values</a:t>
            </a:r>
          </a:p>
          <a:p>
            <a:pPr marL="0" indent="0">
              <a:buNone/>
            </a:pPr>
            <a:r>
              <a:rPr lang="en-US" dirty="0"/>
              <a:t>     - Rating patterns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5. Geographic Performance:</a:t>
            </a:r>
          </a:p>
          <a:p>
            <a:pPr marL="0" indent="0">
              <a:buNone/>
            </a:pPr>
            <a:r>
              <a:rPr lang="en-US" dirty="0"/>
              <a:t>   • Map visualization showing:</a:t>
            </a:r>
          </a:p>
          <a:p>
            <a:pPr marL="0" indent="0">
              <a:buNone/>
            </a:pPr>
            <a:r>
              <a:rPr lang="en-US" dirty="0"/>
              <a:t>     - City-wise sales distribution</a:t>
            </a:r>
          </a:p>
          <a:p>
            <a:pPr marL="0" indent="0">
              <a:buNone/>
            </a:pPr>
            <a:r>
              <a:rPr lang="en-US" dirty="0"/>
              <a:t>     - Customer density</a:t>
            </a:r>
          </a:p>
          <a:p>
            <a:pPr marL="0" indent="0">
              <a:buNone/>
            </a:pPr>
            <a:r>
              <a:rPr lang="en-US" dirty="0"/>
              <a:t>     - Performance metrics by location</a:t>
            </a:r>
          </a:p>
        </p:txBody>
      </p:sp>
    </p:spTree>
    <p:extLst>
      <p:ext uri="{BB962C8B-B14F-4D97-AF65-F5344CB8AC3E}">
        <p14:creationId xmlns:p14="http://schemas.microsoft.com/office/powerpoint/2010/main" val="2186776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D3FB8-92E4-5D99-6AF8-8FF48B69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F9CE1-06E8-1B31-53ED-D35660AC8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3" y="849814"/>
            <a:ext cx="2896671" cy="823912"/>
          </a:xfrm>
        </p:spPr>
        <p:txBody>
          <a:bodyPr/>
          <a:lstStyle/>
          <a:p>
            <a:r>
              <a:rPr lang="en-US" dirty="0"/>
              <a:t>1. Sales Optimization Strategy: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69AE2-9D6A-4108-71CA-1203EAC58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3" y="1907484"/>
            <a:ext cx="2882475" cy="3372439"/>
          </a:xfrm>
        </p:spPr>
        <p:txBody>
          <a:bodyPr/>
          <a:lstStyle/>
          <a:p>
            <a:r>
              <a:rPr lang="en-US" dirty="0"/>
              <a:t>Short-term Actions: </a:t>
            </a:r>
            <a:br>
              <a:rPr lang="en-US" dirty="0"/>
            </a:br>
            <a:r>
              <a:rPr lang="en-US" dirty="0"/>
              <a:t>• Implement targeted promotions </a:t>
            </a:r>
            <a:br>
              <a:rPr lang="en-US" dirty="0"/>
            </a:br>
            <a:r>
              <a:rPr lang="en-US" dirty="0"/>
              <a:t>• Optimize inventory mix </a:t>
            </a:r>
            <a:br>
              <a:rPr lang="en-US" dirty="0"/>
            </a:br>
            <a:r>
              <a:rPr lang="en-US" dirty="0"/>
              <a:t>• Enhance member benefits</a:t>
            </a:r>
          </a:p>
          <a:p>
            <a:r>
              <a:rPr lang="en-US" dirty="0"/>
              <a:t>Long-term Initiatives: </a:t>
            </a:r>
            <a:br>
              <a:rPr lang="en-US" dirty="0"/>
            </a:br>
            <a:r>
              <a:rPr lang="en-US" dirty="0"/>
              <a:t>• Develop predictive analytics </a:t>
            </a:r>
            <a:br>
              <a:rPr lang="en-US" dirty="0"/>
            </a:br>
            <a:r>
              <a:rPr lang="en-US" dirty="0"/>
              <a:t>• Expand product categories </a:t>
            </a:r>
            <a:br>
              <a:rPr lang="en-US" dirty="0"/>
            </a:br>
            <a:r>
              <a:rPr lang="en-US" dirty="0"/>
              <a:t>• Strengthen loyalty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8A497B-288C-A43A-2A45-C5106D2B4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4" y="849814"/>
            <a:ext cx="2896671" cy="823912"/>
          </a:xfrm>
        </p:spPr>
        <p:txBody>
          <a:bodyPr/>
          <a:lstStyle/>
          <a:p>
            <a:r>
              <a:rPr lang="en-US" dirty="0"/>
              <a:t>2. Customer Experience Enhancement: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29FBD21-21B4-D178-DB1A-A9CABAC52E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4" y="1907484"/>
            <a:ext cx="2896671" cy="1997867"/>
          </a:xfrm>
        </p:spPr>
        <p:txBody>
          <a:bodyPr>
            <a:normAutofit/>
          </a:bodyPr>
          <a:lstStyle/>
          <a:p>
            <a:r>
              <a:rPr lang="en-US" dirty="0"/>
              <a:t>Priority Actions: </a:t>
            </a:r>
            <a:br>
              <a:rPr lang="en-US" dirty="0"/>
            </a:br>
            <a:r>
              <a:rPr lang="en-US" dirty="0"/>
              <a:t>• Personalized marketing </a:t>
            </a:r>
            <a:br>
              <a:rPr lang="en-US" dirty="0"/>
            </a:br>
            <a:r>
              <a:rPr lang="en-US" dirty="0"/>
              <a:t>• Improved service delivery </a:t>
            </a:r>
            <a:br>
              <a:rPr lang="en-US" dirty="0"/>
            </a:br>
            <a:r>
              <a:rPr lang="en-US" dirty="0"/>
              <a:t>• Enhanced member benefits </a:t>
            </a:r>
          </a:p>
          <a:p>
            <a:r>
              <a:rPr lang="en-US" dirty="0"/>
              <a:t>Strategic Initiatives: </a:t>
            </a:r>
            <a:br>
              <a:rPr lang="en-US" dirty="0"/>
            </a:br>
            <a:r>
              <a:rPr lang="en-US" dirty="0"/>
              <a:t>• Customer feedback integration • Multi-channel engagement </a:t>
            </a:r>
            <a:br>
              <a:rPr lang="en-US" dirty="0"/>
            </a:br>
            <a:r>
              <a:rPr lang="en-US" dirty="0"/>
              <a:t>• Loyalty program optimization</a:t>
            </a:r>
            <a:endParaRPr lang="en-US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130734-CE54-9C5E-780A-AADE2D15BA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0" y="849814"/>
            <a:ext cx="2882475" cy="526702"/>
          </a:xfrm>
        </p:spPr>
        <p:txBody>
          <a:bodyPr/>
          <a:lstStyle/>
          <a:p>
            <a:r>
              <a:rPr lang="en-US" dirty="0"/>
              <a:t>3. Operational Improvements: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9AF341D-EE4D-3D76-8E70-B99B586EB61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0" y="1907484"/>
            <a:ext cx="2882475" cy="2408877"/>
          </a:xfrm>
        </p:spPr>
        <p:txBody>
          <a:bodyPr/>
          <a:lstStyle/>
          <a:p>
            <a:r>
              <a:rPr lang="en-US" dirty="0"/>
              <a:t>Immediate Implementation: </a:t>
            </a:r>
            <a:br>
              <a:rPr lang="en-US" dirty="0"/>
            </a:br>
            <a:r>
              <a:rPr lang="en-US" dirty="0"/>
              <a:t>• Stock optimization </a:t>
            </a:r>
            <a:br>
              <a:rPr lang="en-US" dirty="0"/>
            </a:br>
            <a:r>
              <a:rPr lang="en-US" dirty="0"/>
              <a:t>• Staff training </a:t>
            </a:r>
            <a:br>
              <a:rPr lang="en-US" dirty="0"/>
            </a:br>
            <a:r>
              <a:rPr lang="en-US" dirty="0"/>
              <a:t>• Process streamlining Future</a:t>
            </a:r>
          </a:p>
          <a:p>
            <a:r>
              <a:rPr lang="en-US" dirty="0"/>
              <a:t>Development: </a:t>
            </a:r>
            <a:br>
              <a:rPr lang="en-US" dirty="0"/>
            </a:br>
            <a:r>
              <a:rPr lang="en-US" dirty="0"/>
              <a:t>• Automated systems </a:t>
            </a:r>
            <a:br>
              <a:rPr lang="en-US" dirty="0"/>
            </a:br>
            <a:r>
              <a:rPr lang="en-US" dirty="0"/>
              <a:t>• Data-driven decisions </a:t>
            </a:r>
            <a:br>
              <a:rPr lang="en-US" dirty="0"/>
            </a:br>
            <a:r>
              <a:rPr lang="en-US" dirty="0"/>
              <a:t>• Performance monitoring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F4C20-C35C-4E3E-F03D-009A23CC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996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FE022-97A6-4795-FEE4-A985D86B8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38329-A3E5-8091-9A4D-58E94B06BA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511" y="613571"/>
            <a:ext cx="8313171" cy="576132"/>
          </a:xfrm>
        </p:spPr>
        <p:txBody>
          <a:bodyPr>
            <a:normAutofit/>
          </a:bodyPr>
          <a:lstStyle/>
          <a:p>
            <a:pPr algn="l"/>
            <a:r>
              <a:rPr lang="en-US" cap="none" dirty="0"/>
              <a:t>Implementation Challenges &amp; Solutions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196E76-61BA-6886-6954-0B792B665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8511" y="1189703"/>
            <a:ext cx="4407489" cy="442451"/>
          </a:xfrm>
        </p:spPr>
        <p:txBody>
          <a:bodyPr/>
          <a:lstStyle/>
          <a:p>
            <a:r>
              <a:rPr lang="en-US" cap="none" dirty="0"/>
              <a:t>1. Data Complexity Challenges: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B3251-93A3-4133-328E-3B9761D826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88511" y="1765835"/>
            <a:ext cx="3915876" cy="3473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 Integration:</a:t>
            </a:r>
          </a:p>
          <a:p>
            <a:pPr marL="0" indent="0">
              <a:buNone/>
            </a:pPr>
            <a:r>
              <a:rPr lang="en-US" dirty="0"/>
              <a:t>   • Multiple data sources reconciliation</a:t>
            </a:r>
          </a:p>
          <a:p>
            <a:pPr marL="0" indent="0">
              <a:buNone/>
            </a:pPr>
            <a:r>
              <a:rPr lang="en-US" dirty="0"/>
              <a:t>   • Inconsistent formatting</a:t>
            </a:r>
          </a:p>
          <a:p>
            <a:pPr marL="0" indent="0">
              <a:buNone/>
            </a:pPr>
            <a:r>
              <a:rPr lang="en-US" dirty="0"/>
              <a:t>   • Historical data alignment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 Implemented:</a:t>
            </a:r>
          </a:p>
          <a:p>
            <a:pPr marL="0" indent="0">
              <a:buNone/>
            </a:pPr>
            <a:r>
              <a:rPr lang="en-US" dirty="0"/>
              <a:t>   • Custom ETL processes</a:t>
            </a:r>
          </a:p>
          <a:p>
            <a:pPr marL="0" indent="0">
              <a:buNone/>
            </a:pPr>
            <a:r>
              <a:rPr lang="en-US" dirty="0"/>
              <a:t>   • Standardized data models</a:t>
            </a:r>
          </a:p>
          <a:p>
            <a:pPr marL="0" indent="0">
              <a:buNone/>
            </a:pPr>
            <a:r>
              <a:rPr lang="en-US" dirty="0"/>
              <a:t>   • Automated quality checks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254609-703D-B0E6-601D-8508E3CCF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30068" y="1189703"/>
            <a:ext cx="3591096" cy="442451"/>
          </a:xfrm>
        </p:spPr>
        <p:txBody>
          <a:bodyPr/>
          <a:lstStyle/>
          <a:p>
            <a:r>
              <a:rPr lang="en-US" cap="none" dirty="0"/>
              <a:t>2. Analytical Challenges: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163245-16E6-5647-1B85-DF0EC99F4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30067" y="1837132"/>
            <a:ext cx="3251402" cy="29889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Performance Metrics:</a:t>
            </a:r>
          </a:p>
          <a:p>
            <a:pPr marL="0" indent="0">
              <a:buNone/>
            </a:pPr>
            <a:r>
              <a:rPr lang="en-US" dirty="0"/>
              <a:t>   • Complex calculations</a:t>
            </a:r>
          </a:p>
          <a:p>
            <a:pPr marL="0" indent="0">
              <a:buNone/>
            </a:pPr>
            <a:r>
              <a:rPr lang="en-US" dirty="0"/>
              <a:t>   • Real-time updates</a:t>
            </a:r>
          </a:p>
          <a:p>
            <a:pPr marL="0" indent="0">
              <a:buNone/>
            </a:pPr>
            <a:r>
              <a:rPr lang="en-US" dirty="0"/>
              <a:t>   • Cross-filter requirements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Solutions Developed:</a:t>
            </a:r>
          </a:p>
          <a:p>
            <a:pPr marL="0" indent="0">
              <a:buNone/>
            </a:pPr>
            <a:r>
              <a:rPr lang="en-US" dirty="0"/>
              <a:t>   • Optimized DAX measures</a:t>
            </a:r>
          </a:p>
          <a:p>
            <a:pPr marL="0" indent="0">
              <a:buNone/>
            </a:pPr>
            <a:r>
              <a:rPr lang="en-US" dirty="0"/>
              <a:t>   • Efficient data modeling</a:t>
            </a:r>
          </a:p>
          <a:p>
            <a:pPr marL="0" indent="0">
              <a:buNone/>
            </a:pPr>
            <a:r>
              <a:rPr lang="en-US" dirty="0"/>
              <a:t>   • Enhanced visualization logic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4E8C3-3FDF-9A20-C55A-9A6C1F44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0785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972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92E2B-4235-0336-5F2A-05A0FAE81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A4CC-DCC6-BDA6-46E5-0697B113C5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511" y="613571"/>
            <a:ext cx="8313171" cy="576132"/>
          </a:xfrm>
        </p:spPr>
        <p:txBody>
          <a:bodyPr>
            <a:normAutofit/>
          </a:bodyPr>
          <a:lstStyle/>
          <a:p>
            <a:pPr algn="l"/>
            <a:r>
              <a:rPr lang="en-US" cap="none" dirty="0"/>
              <a:t>Impact Analysis &amp; Growth Metrics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16891-1560-ACA7-AFD3-FA0A659E4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8511" y="1189703"/>
            <a:ext cx="4407489" cy="442451"/>
          </a:xfrm>
        </p:spPr>
        <p:txBody>
          <a:bodyPr/>
          <a:lstStyle/>
          <a:p>
            <a:r>
              <a:rPr lang="en-US" cap="none" dirty="0"/>
              <a:t>1. Quantifiable Outcomes: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1FA8E6-106A-F1B8-7BA3-5B1C0152D5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88511" y="1765835"/>
            <a:ext cx="3915876" cy="3473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Sales Performance:   </a:t>
            </a:r>
            <a:br>
              <a:rPr lang="en-US" dirty="0"/>
            </a:br>
            <a:r>
              <a:rPr lang="en-US" dirty="0"/>
              <a:t>• Revenue optimization potential: 30.94% growth   </a:t>
            </a:r>
            <a:br>
              <a:rPr lang="en-US" dirty="0"/>
            </a:br>
            <a:r>
              <a:rPr lang="en-US" dirty="0"/>
              <a:t>• Inventory efficiency improvement   </a:t>
            </a:r>
            <a:br>
              <a:rPr lang="en-US" dirty="0"/>
            </a:br>
            <a:r>
              <a:rPr lang="en-US" dirty="0"/>
              <a:t>• Enhanced customer basket size   </a:t>
            </a:r>
          </a:p>
          <a:p>
            <a:pPr marL="0" indent="0">
              <a:buNone/>
            </a:pPr>
            <a:r>
              <a:rPr lang="en-US" dirty="0"/>
              <a:t>Customer Engagement:   </a:t>
            </a:r>
            <a:br>
              <a:rPr lang="en-US" dirty="0"/>
            </a:br>
            <a:r>
              <a:rPr lang="en-US" dirty="0"/>
              <a:t>• Increased member participation   </a:t>
            </a:r>
            <a:br>
              <a:rPr lang="en-US" dirty="0"/>
            </a:br>
            <a:r>
              <a:rPr lang="en-US" dirty="0"/>
              <a:t>• Higher satisfaction scores   </a:t>
            </a:r>
            <a:br>
              <a:rPr lang="en-US" dirty="0"/>
            </a:br>
            <a:r>
              <a:rPr lang="en-US" dirty="0"/>
              <a:t>• Improved retention rates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DCACE3-0CCA-DC49-BBC9-64F7F7D89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30068" y="1189703"/>
            <a:ext cx="4109880" cy="442451"/>
          </a:xfrm>
        </p:spPr>
        <p:txBody>
          <a:bodyPr/>
          <a:lstStyle/>
          <a:p>
            <a:r>
              <a:rPr lang="en-US" cap="none" dirty="0"/>
              <a:t>2. Operational Improvements: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CFD270-FCC7-316A-099A-F6FBC40AA0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30067" y="1837132"/>
            <a:ext cx="3251402" cy="2988981"/>
          </a:xfrm>
        </p:spPr>
        <p:txBody>
          <a:bodyPr>
            <a:normAutofit/>
          </a:bodyPr>
          <a:lstStyle/>
          <a:p>
            <a:r>
              <a:rPr lang="en-US" dirty="0"/>
              <a:t>Process Efficiency: </a:t>
            </a:r>
            <a:br>
              <a:rPr lang="en-US" dirty="0"/>
            </a:br>
            <a:r>
              <a:rPr lang="en-US" dirty="0"/>
              <a:t>• Real-time performance tracking </a:t>
            </a:r>
            <a:br>
              <a:rPr lang="en-US" dirty="0"/>
            </a:br>
            <a:r>
              <a:rPr lang="en-US" dirty="0"/>
              <a:t>• Automated reporting systems </a:t>
            </a:r>
            <a:br>
              <a:rPr lang="en-US" dirty="0"/>
            </a:br>
            <a:r>
              <a:rPr lang="en-US" dirty="0"/>
              <a:t>• Data-driven decision making </a:t>
            </a:r>
          </a:p>
          <a:p>
            <a:r>
              <a:rPr lang="en-US" dirty="0"/>
              <a:t>Business Intelligence: </a:t>
            </a:r>
            <a:br>
              <a:rPr lang="en-US" dirty="0"/>
            </a:br>
            <a:r>
              <a:rPr lang="en-US" dirty="0"/>
              <a:t>• Interactive dashboards </a:t>
            </a:r>
            <a:br>
              <a:rPr lang="en-US" dirty="0"/>
            </a:br>
            <a:r>
              <a:rPr lang="en-US" dirty="0"/>
              <a:t>• Predictive insights </a:t>
            </a:r>
            <a:br>
              <a:rPr lang="en-US" dirty="0"/>
            </a:br>
            <a:r>
              <a:rPr lang="en-US" dirty="0"/>
              <a:t>• Strategic planning support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CF8CF-E9FA-4898-9128-1EDFEF7F8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0785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151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068F8-459F-AF55-BFBD-7435FF697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87DB-B211-25A5-6CB9-C8422F1B4B9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>
            <a:normAutofit/>
          </a:bodyPr>
          <a:lstStyle/>
          <a:p>
            <a:pPr algn="l"/>
            <a:r>
              <a:rPr lang="en-US" cap="none" dirty="0"/>
              <a:t>Project Learnings &amp; Future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E049E-0CED-5559-A4F2-A5A05710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99C58-ED6E-713E-0CA0-8AD8174EB7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455175"/>
            <a:ext cx="10515599" cy="49011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1. Technical Skills Enhanced: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Power BI Expertise:</a:t>
            </a:r>
          </a:p>
          <a:p>
            <a:pPr marL="0" indent="0">
              <a:buNone/>
            </a:pPr>
            <a:r>
              <a:rPr lang="en-US" dirty="0"/>
              <a:t>   • Advanced DAX development</a:t>
            </a:r>
          </a:p>
          <a:p>
            <a:pPr marL="0" indent="0">
              <a:buNone/>
            </a:pPr>
            <a:r>
              <a:rPr lang="en-US" dirty="0"/>
              <a:t>   • Custom visualization creation</a:t>
            </a:r>
          </a:p>
          <a:p>
            <a:pPr marL="0" indent="0">
              <a:buNone/>
            </a:pPr>
            <a:r>
              <a:rPr lang="en-US" dirty="0"/>
              <a:t>   • Performance optimization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Data Analysis:</a:t>
            </a:r>
          </a:p>
          <a:p>
            <a:pPr marL="0" indent="0">
              <a:buNone/>
            </a:pPr>
            <a:r>
              <a:rPr lang="en-US" dirty="0"/>
              <a:t>   • Pattern recognition</a:t>
            </a:r>
          </a:p>
          <a:p>
            <a:pPr marL="0" indent="0">
              <a:buNone/>
            </a:pPr>
            <a:r>
              <a:rPr lang="en-US" dirty="0"/>
              <a:t>   • Statistical analysis</a:t>
            </a:r>
          </a:p>
          <a:p>
            <a:pPr marL="0" indent="0">
              <a:buNone/>
            </a:pPr>
            <a:r>
              <a:rPr lang="en-US" dirty="0"/>
              <a:t>   • Predictive modeling</a:t>
            </a:r>
          </a:p>
        </p:txBody>
      </p:sp>
    </p:spTree>
    <p:extLst>
      <p:ext uri="{BB962C8B-B14F-4D97-AF65-F5344CB8AC3E}">
        <p14:creationId xmlns:p14="http://schemas.microsoft.com/office/powerpoint/2010/main" val="644862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98BC4-B8D1-0889-E5B9-28B88CE20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7953-53DA-FA42-E729-3DCC9B7BAA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>
            <a:normAutofit/>
          </a:bodyPr>
          <a:lstStyle/>
          <a:p>
            <a:pPr algn="l"/>
            <a:r>
              <a:rPr lang="en-US" cap="none" dirty="0"/>
              <a:t>Project Learnings &amp; Future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14401-A94D-FE05-23CD-B91E9C20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A1AEA-8D7E-AC0F-864C-F3E6DC686C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455175"/>
            <a:ext cx="10515599" cy="49011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2. Business Knowledge Gained: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Retail Analytics:</a:t>
            </a:r>
          </a:p>
          <a:p>
            <a:pPr marL="0" indent="0">
              <a:buNone/>
            </a:pPr>
            <a:r>
              <a:rPr lang="en-US" dirty="0"/>
              <a:t>   • Customer behavior patterns</a:t>
            </a:r>
          </a:p>
          <a:p>
            <a:pPr marL="0" indent="0">
              <a:buNone/>
            </a:pPr>
            <a:r>
              <a:rPr lang="en-US" dirty="0"/>
              <a:t>   • Sales performance metrics</a:t>
            </a:r>
          </a:p>
          <a:p>
            <a:pPr marL="0" indent="0">
              <a:buNone/>
            </a:pPr>
            <a:r>
              <a:rPr lang="en-US" dirty="0"/>
              <a:t>   • Inventory management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Strategic Planning:</a:t>
            </a:r>
          </a:p>
          <a:p>
            <a:pPr marL="0" indent="0">
              <a:buNone/>
            </a:pPr>
            <a:r>
              <a:rPr lang="en-US" dirty="0"/>
              <a:t>   • Data-driven decisions</a:t>
            </a:r>
          </a:p>
          <a:p>
            <a:pPr marL="0" indent="0">
              <a:buNone/>
            </a:pPr>
            <a:r>
              <a:rPr lang="en-US" dirty="0"/>
              <a:t>   • Market understanding</a:t>
            </a:r>
          </a:p>
          <a:p>
            <a:pPr marL="0" indent="0">
              <a:buNone/>
            </a:pPr>
            <a:r>
              <a:rPr lang="en-US" dirty="0"/>
              <a:t>   • Performance optimization</a:t>
            </a:r>
          </a:p>
        </p:txBody>
      </p:sp>
    </p:spTree>
    <p:extLst>
      <p:ext uri="{BB962C8B-B14F-4D97-AF65-F5344CB8AC3E}">
        <p14:creationId xmlns:p14="http://schemas.microsoft.com/office/powerpoint/2010/main" val="338240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EA51D-2AA0-C2B5-55D0-2C8B4B000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0ED18-C8FA-410D-479F-720EF6984E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>
            <a:normAutofit/>
          </a:bodyPr>
          <a:lstStyle/>
          <a:p>
            <a:pPr algn="l"/>
            <a:r>
              <a:rPr lang="en-US" cap="none" dirty="0"/>
              <a:t>Project Learnings &amp; Future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357D-3055-9970-5A8D-A11A2C025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1856D-8684-B0EE-4EBD-77F09BC121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455175"/>
            <a:ext cx="10515599" cy="4901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3. Future Applications: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Expansion Possibilities:</a:t>
            </a:r>
          </a:p>
          <a:p>
            <a:pPr marL="0" indent="0">
              <a:buNone/>
            </a:pPr>
            <a:r>
              <a:rPr lang="en-US" dirty="0"/>
              <a:t>   • Predictive analytics integration</a:t>
            </a:r>
          </a:p>
          <a:p>
            <a:pPr marL="0" indent="0">
              <a:buNone/>
            </a:pPr>
            <a:r>
              <a:rPr lang="en-US" dirty="0"/>
              <a:t>   • Machine learning implementation</a:t>
            </a:r>
          </a:p>
          <a:p>
            <a:pPr marL="0" indent="0">
              <a:buNone/>
            </a:pPr>
            <a:r>
              <a:rPr lang="en-US" dirty="0"/>
              <a:t>   • Real-time monitoring systems</a:t>
            </a:r>
          </a:p>
        </p:txBody>
      </p:sp>
    </p:spTree>
    <p:extLst>
      <p:ext uri="{BB962C8B-B14F-4D97-AF65-F5344CB8AC3E}">
        <p14:creationId xmlns:p14="http://schemas.microsoft.com/office/powerpoint/2010/main" val="504945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7FD1D-BA5C-B29D-A658-200D8DFDD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DF341-903E-D46A-1A4E-1891ACF2EE6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>
            <a:normAutofit/>
          </a:bodyPr>
          <a:lstStyle/>
          <a:p>
            <a:pPr algn="l"/>
            <a:r>
              <a:rPr lang="en-US" cap="none" dirty="0"/>
              <a:t>Key Takeaways &amp; Strategic 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CEC40-1D4A-2CAE-34A2-5DF4E73C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DC3C0-2AE7-B8D3-AE51-655DA87DE7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1455175"/>
            <a:ext cx="10515599" cy="490117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1. Project Impact Summary: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Business Value Delivered:</a:t>
            </a:r>
          </a:p>
          <a:p>
            <a:pPr marL="0" indent="0">
              <a:buNone/>
            </a:pPr>
            <a:r>
              <a:rPr lang="en-US" dirty="0"/>
              <a:t>   • Comprehensive sales analytics platform</a:t>
            </a:r>
          </a:p>
          <a:p>
            <a:pPr marL="0" indent="0">
              <a:buNone/>
            </a:pPr>
            <a:r>
              <a:rPr lang="en-US" dirty="0"/>
              <a:t>   • Customer behavior insights framework</a:t>
            </a:r>
          </a:p>
          <a:p>
            <a:pPr marL="0" indent="0">
              <a:buNone/>
            </a:pPr>
            <a:r>
              <a:rPr lang="en-US" dirty="0"/>
              <a:t>   • Data-driven decision support system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Strategic Recommendations: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Immediate Actions:</a:t>
            </a:r>
          </a:p>
          <a:p>
            <a:pPr marL="0" indent="0">
              <a:buNone/>
            </a:pPr>
            <a:r>
              <a:rPr lang="en-US" dirty="0"/>
              <a:t>   • Focus on medium-sized properties for optimal ROI</a:t>
            </a:r>
          </a:p>
          <a:p>
            <a:pPr marL="0" indent="0">
              <a:buNone/>
            </a:pPr>
            <a:r>
              <a:rPr lang="en-US" dirty="0"/>
              <a:t>   • Enhance member engagement programs</a:t>
            </a:r>
          </a:p>
          <a:p>
            <a:pPr marL="0" indent="0">
              <a:buNone/>
            </a:pPr>
            <a:r>
              <a:rPr lang="en-US" dirty="0"/>
              <a:t>   • Optimize product mix by location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Long-term Strategy:</a:t>
            </a:r>
          </a:p>
          <a:p>
            <a:pPr marL="0" indent="0">
              <a:buNone/>
            </a:pPr>
            <a:r>
              <a:rPr lang="en-US" dirty="0"/>
              <a:t>   • Develop predictive analytics capabilities</a:t>
            </a:r>
          </a:p>
          <a:p>
            <a:pPr marL="0" indent="0">
              <a:buNone/>
            </a:pPr>
            <a:r>
              <a:rPr lang="en-US" dirty="0"/>
              <a:t>   • Implement automated inventory systems</a:t>
            </a:r>
          </a:p>
          <a:p>
            <a:pPr marL="0" indent="0">
              <a:buNone/>
            </a:pPr>
            <a:r>
              <a:rPr lang="en-US" dirty="0"/>
              <a:t>   • Create personalized customer experiences</a:t>
            </a:r>
          </a:p>
        </p:txBody>
      </p:sp>
    </p:spTree>
    <p:extLst>
      <p:ext uri="{BB962C8B-B14F-4D97-AF65-F5344CB8AC3E}">
        <p14:creationId xmlns:p14="http://schemas.microsoft.com/office/powerpoint/2010/main" val="917260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0889" y="2863645"/>
            <a:ext cx="4748981" cy="1111045"/>
          </a:xfrm>
        </p:spPr>
        <p:txBody>
          <a:bodyPr/>
          <a:lstStyle/>
          <a:p>
            <a:r>
              <a:rPr lang="en-US" sz="7200" cap="none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581</TotalTime>
  <Words>1372</Words>
  <Application>Microsoft Office PowerPoint</Application>
  <PresentationFormat>Widescreen</PresentationFormat>
  <Paragraphs>263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Tenorite</vt:lpstr>
      <vt:lpstr>Monoline</vt:lpstr>
      <vt:lpstr>SUPERMART RETAIL PERFORMANCE ANALYSIS: SALES &amp; CUSTOMER BEHAVIOR INSIGHTS</vt:lpstr>
      <vt:lpstr>Background:</vt:lpstr>
      <vt:lpstr>Business Problems:</vt:lpstr>
      <vt:lpstr>Project Objectives:</vt:lpstr>
      <vt:lpstr>Methodology &amp; Data Overview</vt:lpstr>
      <vt:lpstr>Dashboard 1 - Sales Performance &amp; Operations Analytics</vt:lpstr>
      <vt:lpstr>Sales Performance Command Center</vt:lpstr>
      <vt:lpstr>Sales Pattern Analysis:</vt:lpstr>
      <vt:lpstr>Sales Pattern Analysis:</vt:lpstr>
      <vt:lpstr>Development Approach:</vt:lpstr>
      <vt:lpstr>Dashboard 2 - Customer Insights &amp; Product Analytics</vt:lpstr>
      <vt:lpstr>Customer Behavior &amp; Product Performance Hub</vt:lpstr>
      <vt:lpstr>Customer Behavior Patterns:</vt:lpstr>
      <vt:lpstr>Customer Behavior Patterns:</vt:lpstr>
      <vt:lpstr>Customer Behavior Patterns:</vt:lpstr>
      <vt:lpstr>PowerPoint Presentation</vt:lpstr>
      <vt:lpstr>Implementation Challenges &amp; Solutions</vt:lpstr>
      <vt:lpstr>Impact Analysis &amp; Growth Metrics</vt:lpstr>
      <vt:lpstr>Project Learnings &amp; Future Applications</vt:lpstr>
      <vt:lpstr>Project Learnings &amp; Future Applications</vt:lpstr>
      <vt:lpstr>Project Learnings &amp; Future Applications</vt:lpstr>
      <vt:lpstr>Key Takeaways &amp; Strategic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Akhil</dc:creator>
  <cp:lastModifiedBy>Venkata Akhil</cp:lastModifiedBy>
  <cp:revision>3</cp:revision>
  <dcterms:created xsi:type="dcterms:W3CDTF">2025-01-12T23:35:21Z</dcterms:created>
  <dcterms:modified xsi:type="dcterms:W3CDTF">2025-01-13T09:16:55Z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